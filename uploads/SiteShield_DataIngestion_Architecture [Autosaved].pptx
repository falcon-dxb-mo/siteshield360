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194" autoAdjust="0"/>
  </p:normalViewPr>
  <p:slideViewPr>
    <p:cSldViewPr snapToGrid="0" snapToObjects="1">
      <p:cViewPr varScale="1">
        <p:scale>
          <a:sx n="97" d="100"/>
          <a:sy n="97" d="100"/>
        </p:scale>
        <p:origin x="13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271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Industrial &amp; Machine Protocols (Boxes A, B, &amp; D)</a:t>
            </a:r>
          </a:p>
          <a:p>
            <a:r>
              <a:rPr lang="en-GB" dirty="0"/>
              <a:t>These are the rugged, "old-school" languages used by sensors and heavy machinery in the field.</a:t>
            </a:r>
          </a:p>
          <a:p>
            <a:r>
              <a:rPr lang="en-GB" b="1" dirty="0"/>
              <a:t>4-20mA:</a:t>
            </a:r>
            <a:r>
              <a:rPr lang="en-GB" dirty="0"/>
              <a:t> An </a:t>
            </a:r>
            <a:r>
              <a:rPr lang="en-GB" dirty="0" err="1"/>
              <a:t>analog</a:t>
            </a:r>
            <a:r>
              <a:rPr lang="en-GB" dirty="0"/>
              <a:t> electrical standard where the amount of current (milliamps) tells the system a value, like how high the pressure is.</a:t>
            </a:r>
          </a:p>
          <a:p>
            <a:r>
              <a:rPr lang="en-GB" b="1" dirty="0"/>
              <a:t>HART:</a:t>
            </a:r>
            <a:r>
              <a:rPr lang="en-GB" dirty="0"/>
              <a:t> A way for "smart" sensors to send digital data over the same wires used for the 4-20mA signal.</a:t>
            </a:r>
          </a:p>
          <a:p>
            <a:r>
              <a:rPr lang="en-GB" b="1" dirty="0"/>
              <a:t>Modbus (RTU &amp; TCP):</a:t>
            </a:r>
            <a:r>
              <a:rPr lang="en-GB" dirty="0"/>
              <a:t> One of the most common languages in the world for industrial electronics. </a:t>
            </a:r>
            <a:r>
              <a:rPr lang="en-GB" b="1" dirty="0"/>
              <a:t>RTU</a:t>
            </a:r>
            <a:r>
              <a:rPr lang="en-GB" dirty="0"/>
              <a:t> usually travels over simple wires, while </a:t>
            </a:r>
            <a:r>
              <a:rPr lang="en-GB" b="1" dirty="0"/>
              <a:t>TCP</a:t>
            </a:r>
            <a:r>
              <a:rPr lang="en-GB" dirty="0"/>
              <a:t> travels over a standard computer network.</a:t>
            </a:r>
          </a:p>
          <a:p>
            <a:r>
              <a:rPr lang="en-GB" b="1" dirty="0"/>
              <a:t>OPC-UA:</a:t>
            </a:r>
            <a:r>
              <a:rPr lang="en-GB" dirty="0"/>
              <a:t> A modern, secure way for different types of industrial "brains" (like PLCs) to talk to each other, regardless of who manufactured them.</a:t>
            </a:r>
          </a:p>
          <a:p>
            <a:r>
              <a:rPr lang="en-GB" b="1" dirty="0"/>
              <a:t>DNP3:</a:t>
            </a:r>
            <a:r>
              <a:rPr lang="en-GB" dirty="0"/>
              <a:t> Mainly used in the power and water industries to make sure data is delivered reliably, even if the connection is slow or patchy.</a:t>
            </a:r>
          </a:p>
          <a:p>
            <a:r>
              <a:rPr lang="en-GB" b="1" dirty="0"/>
              <a:t>RS-485:</a:t>
            </a:r>
            <a:r>
              <a:rPr lang="en-GB" dirty="0"/>
              <a:t> A technical standard for the physical wires that carry serial data over long distances in noisy industrial environments.</a:t>
            </a:r>
          </a:p>
          <a:p>
            <a:endParaRPr lang="en-US" dirty="0"/>
          </a:p>
          <a:p>
            <a:r>
              <a:rPr lang="en-GB" b="1" dirty="0"/>
              <a:t>Camera &amp; Video Standards (Box C)</a:t>
            </a:r>
          </a:p>
          <a:p>
            <a:r>
              <a:rPr lang="en-GB" dirty="0"/>
              <a:t>These protocols ensure the video feeds from the rig floor or perimeter can be viewed and recorded properly.</a:t>
            </a:r>
          </a:p>
          <a:p>
            <a:r>
              <a:rPr lang="en-GB" b="1" dirty="0"/>
              <a:t>RTSP (Real Time Streaming Protocol):</a:t>
            </a:r>
            <a:r>
              <a:rPr lang="en-GB" dirty="0"/>
              <a:t> The "remote control" for a video stream; it handles the play, pause, and setup of the connection.</a:t>
            </a:r>
          </a:p>
          <a:p>
            <a:r>
              <a:rPr lang="en-GB" b="1" dirty="0"/>
              <a:t>H.264:</a:t>
            </a:r>
            <a:r>
              <a:rPr lang="en-GB" dirty="0"/>
              <a:t> A compression method that shrinks high-definition video files so they can be sent over the internet without using too much bandwidth.</a:t>
            </a:r>
          </a:p>
          <a:p>
            <a:r>
              <a:rPr lang="en-GB" b="1" dirty="0"/>
              <a:t>ONVIF:</a:t>
            </a:r>
            <a:r>
              <a:rPr lang="en-GB" dirty="0"/>
              <a:t> A global standard that allows a camera from Brand A to work seamlessly with software from Brand B.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Modern IoT &amp; Web Protocols (Boxes D, E, &amp; F)</a:t>
            </a:r>
          </a:p>
          <a:p>
            <a:r>
              <a:rPr lang="en-GB" dirty="0"/>
              <a:t>These are "internet-native" languages used by modern software, mobile devices, and global data feeds.</a:t>
            </a:r>
          </a:p>
          <a:p>
            <a:r>
              <a:rPr lang="en-GB" b="1" dirty="0"/>
              <a:t>MQTT (Message Queuing Telemetry Transport):</a:t>
            </a:r>
            <a:r>
              <a:rPr lang="en-GB" dirty="0"/>
              <a:t> A very "lightweight" language perfect for small devices (like sensors) that need to send updates frequently without using much power.</a:t>
            </a:r>
          </a:p>
          <a:p>
            <a:r>
              <a:rPr lang="en-GB" b="1" dirty="0"/>
              <a:t>REST / REST API:</a:t>
            </a:r>
            <a:r>
              <a:rPr lang="en-GB" dirty="0"/>
              <a:t> The standard way most apps on your phone or computer talk to servers. It’s like a menu: the system asks for a specific "dish" of data, and the server provides it.</a:t>
            </a:r>
          </a:p>
          <a:p>
            <a:r>
              <a:rPr lang="en-GB" b="1" dirty="0"/>
              <a:t>JSON (JavaScript Object Notation):</a:t>
            </a:r>
            <a:r>
              <a:rPr lang="en-GB" dirty="0"/>
              <a:t> A simple text format for storing and transporting data. It looks like a list of labels and values (e.g.,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"Temperature": "25"</a:t>
            </a:r>
            <a:r>
              <a:rPr lang="en-GB" dirty="0"/>
              <a:t>), making it easy for both humans and computers to read.</a:t>
            </a:r>
          </a:p>
          <a:p>
            <a:r>
              <a:rPr lang="en-GB" b="1" dirty="0"/>
              <a:t>WebSocket:</a:t>
            </a:r>
            <a:r>
              <a:rPr lang="en-GB" dirty="0"/>
              <a:t> Unlike a standard request, a WebSocket keeps a "phone line" open all the time so the server can push new information to the platform the second it happens.</a:t>
            </a:r>
          </a:p>
          <a:p>
            <a:r>
              <a:rPr lang="en-GB" b="1" dirty="0"/>
              <a:t>4G LTE:</a:t>
            </a:r>
            <a:r>
              <a:rPr lang="en-GB" dirty="0"/>
              <a:t> The high-speed cellular network used to transmit data from moving vehicles or remote sites back to the main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SITESHIELD.AI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0" y="137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Data Ingestion Architecture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864608"/>
            <a:ext cx="8412480" cy="0"/>
          </a:xfrm>
          <a:prstGeom prst="line">
            <a:avLst/>
          </a:prstGeom>
          <a:noFill/>
          <a:ln w="1270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365760" y="49377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 Brief  |  Technical Presentation _ Falcon Dynamics, Mohamed Ali HASSAN _ </a:t>
            </a:r>
            <a:r>
              <a:rPr lang="en-US" sz="900" b="1" dirty="0">
                <a:solidFill>
                  <a:srgbClr val="FF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r>
              <a:rPr lang="en-US" sz="8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SiteShield.ai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Data Ingestion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Raw Hardware to AI-CRV Risk 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1270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L1  Hardware 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31089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0" name="Text 8"/>
          <p:cNvSpPr/>
          <p:nvPr/>
        </p:nvSpPr>
        <p:spPr>
          <a:xfrm>
            <a:off x="192024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L2  Protocol Adapters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31089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2" name="Text 10"/>
          <p:cNvSpPr/>
          <p:nvPr/>
        </p:nvSpPr>
        <p:spPr>
          <a:xfrm>
            <a:off x="329184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L3  Normalization &amp; QC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4" name="Text 12"/>
          <p:cNvSpPr/>
          <p:nvPr/>
        </p:nvSpPr>
        <p:spPr>
          <a:xfrm>
            <a:off x="466344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 Message Broker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31089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6" name="Text 14"/>
          <p:cNvSpPr/>
          <p:nvPr/>
        </p:nvSpPr>
        <p:spPr>
          <a:xfrm>
            <a:off x="603504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L5  Consumers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310896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8" name="Text 16"/>
          <p:cNvSpPr/>
          <p:nvPr/>
        </p:nvSpPr>
        <p:spPr>
          <a:xfrm>
            <a:off x="740664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 Dashboard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Use: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Presentation
</a:t>
            </a: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Diagram Style: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technical architecture diagram
</a:t>
            </a: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Recommended Tools: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Eraser.io, Lucidchart, Miro, or any AI diagramming tool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flow: hardware → adapters → normalization → broker → AI-CRV → dashboard</a:t>
            </a:r>
            <a:endParaRPr lang="en-US" sz="1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68C376-254E-D77F-AE9F-AFC999F12B3F}"/>
              </a:ext>
            </a:extLst>
          </p:cNvPr>
          <p:cNvGrpSpPr/>
          <p:nvPr/>
        </p:nvGrpSpPr>
        <p:grpSpPr>
          <a:xfrm>
            <a:off x="365760" y="1574800"/>
            <a:ext cx="8412480" cy="2194560"/>
            <a:chOff x="365760" y="2560320"/>
            <a:chExt cx="8412480" cy="2194560"/>
          </a:xfrm>
        </p:grpSpPr>
        <p:sp>
          <p:nvSpPr>
            <p:cNvPr id="5" name="Shape 3"/>
            <p:cNvSpPr/>
            <p:nvPr/>
          </p:nvSpPr>
          <p:spPr>
            <a:xfrm>
              <a:off x="365760" y="2560320"/>
              <a:ext cx="8412480" cy="2194560"/>
            </a:xfrm>
            <a:prstGeom prst="rect">
              <a:avLst/>
            </a:prstGeom>
            <a:solidFill>
              <a:srgbClr val="12253A"/>
            </a:solidFill>
            <a:ln w="9525">
              <a:solidFill>
                <a:srgbClr val="1F3A52"/>
              </a:solidFill>
              <a:prstDash val="solid"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75488" y="2615184"/>
              <a:ext cx="819302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C2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ARCHITECTURE  —  TOP-TO-BOTTOM FLOW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02920" y="2926080"/>
              <a:ext cx="502920" cy="256032"/>
            </a:xfrm>
            <a:prstGeom prst="rect">
              <a:avLst/>
            </a:prstGeom>
            <a:solidFill>
              <a:srgbClr val="00C2FF"/>
            </a:solidFill>
            <a:ln w="12700">
              <a:solidFill>
                <a:srgbClr val="00C2FF"/>
              </a:solidFill>
              <a:prstDash val="solid"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2926080"/>
              <a:ext cx="502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80E1A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L1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143000" y="292608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Physical Data Sources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00400" y="2926080"/>
              <a:ext cx="5577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6C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Sensors, SCADA, cameras, detectors, telematics, external feeds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02920" y="3218688"/>
              <a:ext cx="502920" cy="256032"/>
            </a:xfrm>
            <a:prstGeom prst="rect">
              <a:avLst/>
            </a:prstGeom>
            <a:solidFill>
              <a:srgbClr val="00C2FF"/>
            </a:solidFill>
            <a:ln w="12700">
              <a:solidFill>
                <a:srgbClr val="00C2FF"/>
              </a:solidFill>
              <a:prstDash val="solid"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02920" y="3218688"/>
              <a:ext cx="502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80E1A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L2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143000" y="3218688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Protocol Adapters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200400" y="3218688"/>
              <a:ext cx="5577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6C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One per protocol family — translates raw to JSON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" y="3511296"/>
              <a:ext cx="502920" cy="256032"/>
            </a:xfrm>
            <a:prstGeom prst="rect">
              <a:avLst/>
            </a:prstGeom>
            <a:solidFill>
              <a:srgbClr val="00C2FF"/>
            </a:solidFill>
            <a:ln w="12700">
              <a:solidFill>
                <a:srgbClr val="00C2FF"/>
              </a:solidFill>
              <a:prstDash val="solid"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02920" y="3511296"/>
              <a:ext cx="502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80E1A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L3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143000" y="3511296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Normalization &amp; QC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200400" y="3511296"/>
              <a:ext cx="5577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6C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Schema mapping, units, UTC time, confidence, anomaly pre-filter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02920" y="3803904"/>
              <a:ext cx="502920" cy="256032"/>
            </a:xfrm>
            <a:prstGeom prst="rect">
              <a:avLst/>
            </a:prstGeom>
            <a:solidFill>
              <a:srgbClr val="00C2FF"/>
            </a:solidFill>
            <a:ln w="12700">
              <a:solidFill>
                <a:srgbClr val="00C2FF"/>
              </a:solidFill>
              <a:prstDash val="solid"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02920" y="3803904"/>
              <a:ext cx="502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80E1A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L4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143000" y="3803904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Message Broker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200400" y="3803904"/>
              <a:ext cx="5577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6C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MQTT (edge) / Kafka (cloud) — pub/sub decoupling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02920" y="4096512"/>
              <a:ext cx="502920" cy="256032"/>
            </a:xfrm>
            <a:prstGeom prst="rect">
              <a:avLst/>
            </a:prstGeom>
            <a:solidFill>
              <a:srgbClr val="00C2FF"/>
            </a:solidFill>
            <a:ln w="12700">
              <a:solidFill>
                <a:srgbClr val="00C2FF"/>
              </a:solidFill>
              <a:prstDash val="solid"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2920" y="4096512"/>
              <a:ext cx="502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80E1A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L5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143000" y="4096512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Consumers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200400" y="4096512"/>
              <a:ext cx="5577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6C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AI-CRV engine, modules, alerts, audit, AI safety adviser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920" y="4389120"/>
              <a:ext cx="502920" cy="256032"/>
            </a:xfrm>
            <a:prstGeom prst="rect">
              <a:avLst/>
            </a:prstGeom>
            <a:solidFill>
              <a:srgbClr val="00C2FF"/>
            </a:solidFill>
            <a:ln w="12700">
              <a:solidFill>
                <a:srgbClr val="00C2FF"/>
              </a:solidFill>
              <a:prstDash val="solid"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920" y="4389120"/>
              <a:ext cx="502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80E1A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L6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143000" y="438912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Dashboard</a:t>
              </a:r>
              <a:endParaRPr lang="en-US" sz="11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200400" y="4389120"/>
              <a:ext cx="5577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6C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React web app — composite score, modules, alerts, map</a:t>
              </a:r>
              <a:endParaRPr lang="en-US" sz="1000" dirty="0"/>
            </a:p>
          </p:txBody>
        </p:sp>
      </p:grp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6194D33E-7F6E-8B6F-144E-034C27A328D3}"/>
              </a:ext>
            </a:extLst>
          </p:cNvPr>
          <p:cNvSpPr txBox="1"/>
          <p:nvPr/>
        </p:nvSpPr>
        <p:spPr>
          <a:xfrm>
            <a:off x="9144000" y="-6801"/>
            <a:ext cx="2478704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/>
              <a:t>Industrial &amp; Machine Protocols (Boxes A, B, &amp; D)</a:t>
            </a:r>
          </a:p>
          <a:p>
            <a:r>
              <a:rPr lang="en-GB" sz="800" dirty="0"/>
              <a:t>These are the rugged, "old-school" languages used by sensors and heavy machinery in the field.</a:t>
            </a:r>
          </a:p>
          <a:p>
            <a:r>
              <a:rPr lang="en-GB" sz="800" b="1" dirty="0"/>
              <a:t>4-20mA:</a:t>
            </a:r>
            <a:r>
              <a:rPr lang="en-GB" sz="800" dirty="0"/>
              <a:t> An </a:t>
            </a:r>
            <a:r>
              <a:rPr lang="en-GB" sz="800" dirty="0" err="1"/>
              <a:t>analog</a:t>
            </a:r>
            <a:r>
              <a:rPr lang="en-GB" sz="800" dirty="0"/>
              <a:t> electrical standard where the amount of current (milliamps) tells the system a value, like how high the pressure is.</a:t>
            </a:r>
          </a:p>
          <a:p>
            <a:r>
              <a:rPr lang="en-GB" sz="800" b="1" dirty="0"/>
              <a:t>HART:</a:t>
            </a:r>
            <a:r>
              <a:rPr lang="en-GB" sz="800" dirty="0"/>
              <a:t> A way for "smart" sensors to send digital data over the same wires used for the 4-20mA signal.</a:t>
            </a:r>
          </a:p>
          <a:p>
            <a:r>
              <a:rPr lang="en-GB" sz="800" b="1" dirty="0"/>
              <a:t>Modbus (RTU &amp; TCP):</a:t>
            </a:r>
            <a:r>
              <a:rPr lang="en-GB" sz="800" dirty="0"/>
              <a:t> One of the most common languages in the world for industrial electronics. </a:t>
            </a:r>
            <a:r>
              <a:rPr lang="en-GB" sz="800" b="1" dirty="0"/>
              <a:t>RTU</a:t>
            </a:r>
            <a:r>
              <a:rPr lang="en-GB" sz="800" dirty="0"/>
              <a:t> usually travels over simple wires, while </a:t>
            </a:r>
            <a:r>
              <a:rPr lang="en-GB" sz="800" b="1" dirty="0"/>
              <a:t>TCP</a:t>
            </a:r>
            <a:r>
              <a:rPr lang="en-GB" sz="800" dirty="0"/>
              <a:t> travels over a standard computer network.</a:t>
            </a:r>
          </a:p>
          <a:p>
            <a:r>
              <a:rPr lang="en-GB" sz="800" b="1" dirty="0"/>
              <a:t>OPC-UA:</a:t>
            </a:r>
            <a:r>
              <a:rPr lang="en-GB" sz="800" dirty="0"/>
              <a:t> A modern, secure way for different types of industrial "brains" (like PLCs) to talk to each other, regardless of who manufactured them.</a:t>
            </a:r>
          </a:p>
          <a:p>
            <a:r>
              <a:rPr lang="en-GB" sz="800" b="1" dirty="0"/>
              <a:t>DNP3:</a:t>
            </a:r>
            <a:r>
              <a:rPr lang="en-GB" sz="800" dirty="0"/>
              <a:t> Mainly used in the power and water industries to make sure data is delivered reliably, even if the connection is slow or patchy.</a:t>
            </a:r>
          </a:p>
          <a:p>
            <a:r>
              <a:rPr lang="en-GB" sz="800" b="1" dirty="0"/>
              <a:t>RS-485:</a:t>
            </a:r>
            <a:r>
              <a:rPr lang="en-GB" sz="800" dirty="0"/>
              <a:t> A technical standard for the physical wires that carry serial data over long distances in noisy industrial environments.</a:t>
            </a:r>
          </a:p>
          <a:p>
            <a:endParaRPr lang="en-US" sz="800" dirty="0"/>
          </a:p>
          <a:p>
            <a:r>
              <a:rPr lang="en-GB" sz="800" b="1" dirty="0"/>
              <a:t>Camera &amp; Video Standards (Box C)</a:t>
            </a:r>
          </a:p>
          <a:p>
            <a:r>
              <a:rPr lang="en-GB" sz="800" dirty="0"/>
              <a:t>These protocols ensure the video feeds from the rig floor or perimeter can be viewed and recorded properly.</a:t>
            </a:r>
          </a:p>
          <a:p>
            <a:r>
              <a:rPr lang="en-GB" sz="800" b="1" dirty="0"/>
              <a:t>RTSP (Real Time Streaming Protocol):</a:t>
            </a:r>
            <a:r>
              <a:rPr lang="en-GB" sz="800" dirty="0"/>
              <a:t> The "remote control" for a video stream; it handles the play, pause, and setup of the connection.</a:t>
            </a:r>
          </a:p>
          <a:p>
            <a:r>
              <a:rPr lang="en-GB" sz="800" b="1" dirty="0"/>
              <a:t>H.264:</a:t>
            </a:r>
            <a:r>
              <a:rPr lang="en-GB" sz="800" dirty="0"/>
              <a:t> A compression method that shrinks high-definition video files so they can be sent over the internet without using too much bandwidth.</a:t>
            </a:r>
          </a:p>
          <a:p>
            <a:r>
              <a:rPr lang="en-GB" sz="800" b="1" dirty="0"/>
              <a:t>ONVIF:</a:t>
            </a:r>
            <a:r>
              <a:rPr lang="en-GB" sz="800" dirty="0"/>
              <a:t> A global standard that allows a camera from Brand A to work seamlessly with software from Brand B.</a:t>
            </a:r>
          </a:p>
          <a:p>
            <a:br>
              <a:rPr lang="en-GB" sz="800" dirty="0"/>
            </a:br>
            <a:endParaRPr lang="en-GB" sz="800" dirty="0"/>
          </a:p>
          <a:p>
            <a:r>
              <a:rPr lang="en-GB" sz="800" b="1" dirty="0"/>
              <a:t>Modern IoT &amp; Web Protocols (Boxes D, E, &amp; F)</a:t>
            </a:r>
          </a:p>
          <a:p>
            <a:r>
              <a:rPr lang="en-GB" sz="800" dirty="0"/>
              <a:t>These are "internet-native" languages used by modern software, mobile devices, and global data feeds.</a:t>
            </a:r>
          </a:p>
          <a:p>
            <a:r>
              <a:rPr lang="en-GB" sz="800" b="1" dirty="0"/>
              <a:t>MQTT (Message Queuing Telemetry Transport):</a:t>
            </a:r>
            <a:r>
              <a:rPr lang="en-GB" sz="800" dirty="0"/>
              <a:t> A very "lightweight" language perfect for small devices (like sensors) that need to send updates frequently without using much power.</a:t>
            </a:r>
          </a:p>
          <a:p>
            <a:r>
              <a:rPr lang="en-GB" sz="800" b="1" dirty="0"/>
              <a:t>REST / REST API:</a:t>
            </a:r>
            <a:r>
              <a:rPr lang="en-GB" sz="800" dirty="0"/>
              <a:t> The standard way most apps on your phone or computer talk to servers. It’s like a menu: the system asks for a specific "dish" of data, and the server provides it.</a:t>
            </a:r>
          </a:p>
          <a:p>
            <a:r>
              <a:rPr lang="en-GB" sz="800" b="1" dirty="0"/>
              <a:t>JSON (JavaScript Object Notation):</a:t>
            </a:r>
            <a:r>
              <a:rPr lang="en-GB" sz="800" dirty="0"/>
              <a:t> A simple text format for storing and transporting data. It looks like a list of labels and values (e.g., "Temperature": "25"), making it easy for both humans and computers to read.</a:t>
            </a:r>
          </a:p>
          <a:p>
            <a:r>
              <a:rPr lang="en-GB" sz="800" b="1" dirty="0"/>
              <a:t>WebSocket:</a:t>
            </a:r>
            <a:r>
              <a:rPr lang="en-GB" sz="800" dirty="0"/>
              <a:t> Unlike a standard request, a WebSocket keeps a "phone line" open all the time so the server can push new information to the platform the second it happens.</a:t>
            </a:r>
          </a:p>
          <a:p>
            <a:r>
              <a:rPr lang="en-GB" sz="800" b="1" dirty="0"/>
              <a:t>4G LTE:</a:t>
            </a:r>
            <a:r>
              <a:rPr lang="en-GB" sz="800" dirty="0"/>
              <a:t> The high-speed cellular network used to transmit data from moving vehicles or remote sites back to the main system.</a:t>
            </a:r>
          </a:p>
          <a:p>
            <a:endParaRPr lang="en-US" sz="800" dirty="0"/>
          </a:p>
          <a:p>
            <a:endParaRPr lang="en-AE" sz="800" dirty="0"/>
          </a:p>
        </p:txBody>
      </p:sp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 1  —  Physical Data 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hardware source groups feeding the ingestion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150876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/>
          <p:nvPr/>
        </p:nvSpPr>
        <p:spPr>
          <a:xfrm>
            <a:off x="475488" y="1243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[A]  Sensors &amp; Instruments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5179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detectors (H2S, LEL, O2)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Pressure &amp; temperature transmitters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meters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Vibration sensors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4-20mA  /  HART  /  Modbus RTU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150876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9" name="Text 7"/>
          <p:cNvSpPr/>
          <p:nvPr/>
        </p:nvSpPr>
        <p:spPr>
          <a:xfrm>
            <a:off x="3310128" y="1243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[B]  SCADA / DCS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64992" y="15179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Wellhead control panels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control units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PLC outputs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OPC-UA  /  Modbus TCP  /  DNP3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743200" cy="150876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3" name="Text 11"/>
          <p:cNvSpPr/>
          <p:nvPr/>
        </p:nvSpPr>
        <p:spPr>
          <a:xfrm>
            <a:off x="6144768" y="1243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[C]  CCTV &amp; Thermal Cameras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5179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IP cameras (perimeter)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PTZ cameras (rig floor)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Thermal imaging units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RTSP  /  H.264  /  ONVIF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743200" cy="150876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7" name="Text 15"/>
          <p:cNvSpPr/>
          <p:nvPr/>
        </p:nvSpPr>
        <p:spPr>
          <a:xfrm>
            <a:off x="475488" y="30723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[D]  Detection Devices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3467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Radiation monitors (NORM/radioactive)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Explosive trace detectors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Acoustic pig-passage detectors (BIRD)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Radar / LiDAR (drone detection)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4297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RS-485  /  MQTT  /  Proprietary API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743200" cy="150876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1" name="Text 19"/>
          <p:cNvSpPr/>
          <p:nvPr/>
        </p:nvSpPr>
        <p:spPr>
          <a:xfrm>
            <a:off x="3310128" y="30723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[E]  Vehicle &amp; Fleet Telematics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33467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trackers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In-cab driver monitoring cameras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bus (speed, braking, seatbelt)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0" y="4297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4G LTE  /  MQTT  /  REST API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743200" cy="150876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5" name="Text 23"/>
          <p:cNvSpPr/>
          <p:nvPr/>
        </p:nvSpPr>
        <p:spPr>
          <a:xfrm>
            <a:off x="6144768" y="30723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[F]  External Data Feeds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33467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APIs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AIS vessel tracking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/ security threat feeds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35040" y="4297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 /  WebSocket  /  JSON</a:t>
            </a:r>
            <a:endParaRPr lang="en-US" sz="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 2  —  Protocol Adapters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adapter per protocol family — translates raw data into a standard internal format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59436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[A]  Modbus / HART Adapter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Handles: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analog sensors, instruments, PLCs</a:t>
            </a: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→  Outputs: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JSON telemetry object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5486400" cy="59436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[B]  OPC-UA Adapter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Handles: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SCADA, DCS, process control systems</a:t>
            </a: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→  Outputs: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JSON telemetry object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5486400" cy="59436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[C]  RTSP / Video Adapter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Handles: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cameras, thermal feeds</a:t>
            </a: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→  Outputs: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objects with metadata + AI vision inference results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5486400" cy="59436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4" name="Text 12"/>
          <p:cNvSpPr/>
          <p:nvPr/>
        </p:nvSpPr>
        <p:spPr>
          <a:xfrm>
            <a:off x="502920" y="32186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[D]  MQTT Adapter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4381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Handles: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sensors, detection devices, some fleet devices</a:t>
            </a: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→  Outputs: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JSON telemetry object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822192"/>
            <a:ext cx="5486400" cy="59436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7" name="Text 15"/>
          <p:cNvSpPr/>
          <p:nvPr/>
        </p:nvSpPr>
        <p:spPr>
          <a:xfrm>
            <a:off x="502920" y="387705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[E]  REST / WebSocket Adapter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0965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Handles: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telematics, external APIs, weather feeds</a:t>
            </a: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→  Outputs: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JSON telemetry object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188720"/>
            <a:ext cx="2788920" cy="1691640"/>
          </a:xfrm>
          <a:prstGeom prst="rect">
            <a:avLst/>
          </a:prstGeom>
          <a:solidFill>
            <a:srgbClr val="12253A"/>
          </a:solidFill>
          <a:ln w="9525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0" name="Text 18"/>
          <p:cNvSpPr/>
          <p:nvPr/>
        </p:nvSpPr>
        <p:spPr>
          <a:xfrm>
            <a:off x="6099048" y="124358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15087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adapter per PROTOCOL  —  not per device.
</a:t>
            </a:r>
            <a:r>
              <a:rPr lang="en-US" sz="10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MQTT adapter handles all MQTT-compliant hardware.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17520"/>
            <a:ext cx="2788920" cy="1737360"/>
          </a:xfrm>
          <a:prstGeom prst="rect">
            <a:avLst/>
          </a:prstGeom>
          <a:solidFill>
            <a:srgbClr val="0E1B2D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3" name="Text 21"/>
          <p:cNvSpPr/>
          <p:nvPr/>
        </p:nvSpPr>
        <p:spPr>
          <a:xfrm>
            <a:off x="6099048" y="307238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3337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Adapters output a normalized JSON telemetry object that flows into Layer 3 (Normalization Engine) regardless of source protocol.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 3  —  Normalization &amp; Quality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adapter outputs feed into a single processing pipeline — the most important layer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658368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  —  </a:t>
            </a: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Schema Mapping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inputs mapped to Canonical Telemetry Object (CTO)   |   Fields: sourceId, moduleTag, timestamp (UTC), value, unit, quality, sensorStatus, rawProtocol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5577840" cy="658368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2  —  </a:t>
            </a: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 Standardization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Pressure → PSI  |  Temperature → °C  |  Flow → m³/hr   |   Ensures uniform units regardless of sensor manufacturer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5577840" cy="658368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1" name="Text 9"/>
          <p:cNvSpPr/>
          <p:nvPr/>
        </p:nvSpPr>
        <p:spPr>
          <a:xfrm>
            <a:off x="502920" y="26609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3  —  </a:t>
            </a: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Timestamp Normalization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timestamps converted to UTC ISO 8601   |   Latency flagged if timestamp delta &gt; threshold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5577840" cy="658368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4" name="Text 12"/>
          <p:cNvSpPr/>
          <p:nvPr/>
        </p:nvSpPr>
        <p:spPr>
          <a:xfrm>
            <a:off x="502920" y="33741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4  —  </a:t>
            </a: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Quality &amp; Confidence Scoring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5844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data point receives a confidence score (0.0–1.0)   |   Factors: signal strength / SNR, data freshness (staleness penalty), sensor health (fault flags), dropout detection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5577840" cy="658368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7" name="Text 15"/>
          <p:cNvSpPr/>
          <p:nvPr/>
        </p:nvSpPr>
        <p:spPr>
          <a:xfrm>
            <a:off x="502920" y="40873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5  —  </a:t>
            </a: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Anomaly Pre-Filter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Out-of-range values flagged before reaching AI engine   |   Does NOT discard — flags for AI-CRV handling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2697480" cy="3566160"/>
          </a:xfrm>
          <a:prstGeom prst="rect">
            <a:avLst/>
          </a:prstGeom>
          <a:solidFill>
            <a:srgbClr val="0E1B2D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0" name="Text 18"/>
          <p:cNvSpPr/>
          <p:nvPr/>
        </p:nvSpPr>
        <p:spPr>
          <a:xfrm>
            <a:off x="6190488" y="124358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CANONICAL TELEMETRY OBJECT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508760"/>
            <a:ext cx="2331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sourceId:     </a:t>
            </a: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"GD-P03-H2S-001",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moduleTag:    </a:t>
            </a: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"OPS_RISK",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timestamp:    </a:t>
            </a: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"2026-05-05T14:32:11.204Z",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       </a:t>
            </a:r>
            <a:r>
              <a:rPr lang="en-US" sz="9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12.4,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unit:         </a:t>
            </a: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"ppm",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quality:      </a:t>
            </a:r>
            <a:r>
              <a:rPr lang="en-US" sz="9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0.91,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sensorStatus: </a:t>
            </a:r>
            <a:r>
              <a:rPr lang="en-US" sz="9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"NORMAL",
</a:t>
            </a:r>
            <a:r>
              <a:rPr lang="en-US" sz="900" dirty="0">
                <a:solidFill>
                  <a:srgbClr val="A8B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rawProtocol:  </a:t>
            </a: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"MODBUS_TCP"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 4  —  Message Broker / Event Bus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Pub/sub backbone — hardware and AI engine remain fully decoupled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0E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MQTT Broker  /  Apache Kafka  (scale-out)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160520" cy="118872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7" name="Text 5"/>
          <p:cNvSpPr/>
          <p:nvPr/>
        </p:nvSpPr>
        <p:spPr>
          <a:xfrm>
            <a:off x="475488" y="2249424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  /  EDGE DEPLOYMENT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MQTT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(lightweight)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Operates fully offline on edge hardware. No cloud dependency for core risk scoring.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2194560"/>
            <a:ext cx="4160520" cy="118872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1" name="Text 9"/>
          <p:cNvSpPr/>
          <p:nvPr/>
        </p:nvSpPr>
        <p:spPr>
          <a:xfrm>
            <a:off x="4727448" y="2249424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ENTERPRISE  /  CLOUD DEPLOYMENT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Apache Kafka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(high-throughput, replay)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Horizontal scale, durable storage, full event replay for compliance &amp; forensic analysis.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12253A"/>
          </a:solidFill>
          <a:ln w="9525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5" name="Text 13"/>
          <p:cNvSpPr/>
          <p:nvPr/>
        </p:nvSpPr>
        <p:spPr>
          <a:xfrm>
            <a:off x="475488" y="3575304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 / SUB DECOUPLING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 downstream consumers subscribe — they never poll hardware directly.
</a:t>
            </a: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and AI engine are fully independent. Adapter failure does not crash the engine.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 5  —  Consumers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Subscribers pulling from the broker — AI-CRV is the core engine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463040"/>
          </a:xfrm>
          <a:prstGeom prst="rect">
            <a:avLst/>
          </a:prstGeom>
          <a:solidFill>
            <a:srgbClr val="12253A"/>
          </a:solidFill>
          <a:ln w="9525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/>
          <p:nvPr/>
        </p:nvSpPr>
        <p:spPr>
          <a:xfrm>
            <a:off x="475488" y="1197864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[A]  AI-CRV INFERENCE ENGINE  —  CORE </a:t>
            </a: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</a:t>
            </a:r>
            <a:r>
              <a:rPr lang="en-US" sz="12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(Patent-Pending)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Confidence-weighted multi-model scoring
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Asymmetric override logic   |   Temporal smoothing (EMA)
</a:t>
            </a:r>
            <a:r>
              <a:rPr lang="en-US" sz="105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Outputs: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Risk Score (0–100), topDrivers, overrideLevel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5577840" cy="205740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8" name="Text 6"/>
          <p:cNvSpPr/>
          <p:nvPr/>
        </p:nvSpPr>
        <p:spPr>
          <a:xfrm>
            <a:off x="475488" y="2752344"/>
            <a:ext cx="5358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[B]  MODULE PROCESSORS  (one block per active module)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3017520"/>
            <a:ext cx="2560320" cy="4114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0" name="Text 8"/>
          <p:cNvSpPr/>
          <p:nvPr/>
        </p:nvSpPr>
        <p:spPr>
          <a:xfrm>
            <a:off x="621792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Detection (Drone/Perimeter)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2112" y="3017520"/>
            <a:ext cx="2560320" cy="4114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2" name="Text 10"/>
          <p:cNvSpPr/>
          <p:nvPr/>
        </p:nvSpPr>
        <p:spPr>
          <a:xfrm>
            <a:off x="3273552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Risk (Pipeline Pigging)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3520440"/>
            <a:ext cx="2560320" cy="4114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4" name="Text 12"/>
          <p:cNvSpPr/>
          <p:nvPr/>
        </p:nvSpPr>
        <p:spPr>
          <a:xfrm>
            <a:off x="621792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 Floor Safety (RigShield)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82112" y="3520440"/>
            <a:ext cx="2560320" cy="4114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6" name="Text 14"/>
          <p:cNvSpPr/>
          <p:nvPr/>
        </p:nvSpPr>
        <p:spPr>
          <a:xfrm>
            <a:off x="3273552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Safety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" y="4023360"/>
            <a:ext cx="2560320" cy="4114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8" name="Text 16"/>
          <p:cNvSpPr/>
          <p:nvPr/>
        </p:nvSpPr>
        <p:spPr>
          <a:xfrm>
            <a:off x="621792" y="4023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Radioactive Source Monitor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2112" y="4023360"/>
            <a:ext cx="2560320" cy="4114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0" name="Text 18"/>
          <p:cNvSpPr/>
          <p:nvPr/>
        </p:nvSpPr>
        <p:spPr>
          <a:xfrm>
            <a:off x="3273552" y="4023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Explosive Device Detection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2697480"/>
            <a:ext cx="2788920" cy="64008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2" name="Text 20"/>
          <p:cNvSpPr/>
          <p:nvPr/>
        </p:nvSpPr>
        <p:spPr>
          <a:xfrm>
            <a:off x="6126480" y="27340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[C]  ALERT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9169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evaluation • Escalation: INFO → WARNING → CRITICAL → EMERGENCY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89320" y="3383280"/>
            <a:ext cx="2788920" cy="64008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5" name="Text 23"/>
          <p:cNvSpPr/>
          <p:nvPr/>
        </p:nvSpPr>
        <p:spPr>
          <a:xfrm>
            <a:off x="6126480" y="34198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[D]  AUDIT  &amp;  HISTORIAN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36027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time-series log • Regulatory compliance record • Replay capability for incident investigation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89320" y="4114800"/>
            <a:ext cx="2788920" cy="64008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8" name="Text 26"/>
          <p:cNvSpPr/>
          <p:nvPr/>
        </p:nvSpPr>
        <p:spPr>
          <a:xfrm>
            <a:off x="6126480" y="41513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[E]  AI SAFETY ADVISER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433425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risk explanation • Powered by: Google Gemini API (online) • Fallback: Local Ollama model (offline / edge)</a:t>
            </a:r>
            <a:endParaRPr lang="en-US" sz="7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 6  —  SiteShield.ai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output — operator-facing real-time interface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347472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React Web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874520" cy="10972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Composite Risk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0–100 with override level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331720"/>
            <a:ext cx="1874520" cy="10972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0" name="Text 8"/>
          <p:cNvSpPr/>
          <p:nvPr/>
        </p:nvSpPr>
        <p:spPr>
          <a:xfrm>
            <a:off x="274320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Module Tabs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drill-down per module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1874520" cy="10972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Alerts &amp; Actions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response workflows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2331720"/>
            <a:ext cx="1874520" cy="1097280"/>
          </a:xfrm>
          <a:prstGeom prst="rect">
            <a:avLst/>
          </a:prstGeom>
          <a:solidFill>
            <a:srgbClr val="1A2A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6" name="Text 14"/>
          <p:cNvSpPr/>
          <p:nvPr/>
        </p:nvSpPr>
        <p:spPr>
          <a:xfrm>
            <a:off x="676656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situational awareness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solidFill>
            <a:srgbClr val="080E1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Role-Based Views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   </a:t>
            </a:r>
            <a:r>
              <a:rPr lang="en-US" sz="14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Supervisor   </a:t>
            </a:r>
            <a:r>
              <a:rPr lang="en-US" sz="1400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  </a:t>
            </a: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Safety Officer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Visual Design Instructions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scheme  |  Layout  |  Typography  |  Format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834640" cy="361188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Text 3"/>
          <p:cNvSpPr/>
          <p:nvPr/>
        </p:nvSpPr>
        <p:spPr>
          <a:xfrm>
            <a:off x="475488" y="119786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COLOR SCHEME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74320" cy="274320"/>
          </a:xfrm>
          <a:prstGeom prst="rect">
            <a:avLst/>
          </a:prstGeom>
          <a:solidFill>
            <a:srgbClr val="080E1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#080E1A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 (dark navy)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74320" cy="274320"/>
          </a:xfrm>
          <a:prstGeom prst="rect">
            <a:avLst/>
          </a:prstGeom>
          <a:solidFill>
            <a:srgbClr val="00C2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#00C2FF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labels  (cyan accent)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274320" cy="274320"/>
          </a:xfrm>
          <a:prstGeom prst="rect">
            <a:avLst/>
          </a:prstGeom>
          <a:solidFill>
            <a:srgbClr val="1A2A3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#1A2A3A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blocks  (dark grey)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solidFill>
            <a:srgbClr val="F6AD5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6" name="Text 14"/>
          <p:cNvSpPr/>
          <p:nvPr/>
        </p:nvSpPr>
        <p:spPr>
          <a:xfrm>
            <a:off x="914400" y="2606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#F6AD55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AI-CRV highlight  (gold/amber)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2971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Arrows  (white / cyan)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solidFill>
            <a:srgbClr val="3D52A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#3D52A0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37360" y="3337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Indigo  (light-mode label)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1143000"/>
            <a:ext cx="2834640" cy="361188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5" name="Text 23"/>
          <p:cNvSpPr/>
          <p:nvPr/>
        </p:nvSpPr>
        <p:spPr>
          <a:xfrm>
            <a:off x="3401568" y="119786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146304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Preferred orientation: top-to-bottom (vertical flow)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labels on left margin as section dividers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layer separated by horizontal rule or background band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Arrows show data direction clearly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hardware sources with bounding box labeled “Field Layer”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Normalization: highlighted with accent border + subtle glow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Broker: full-width horizontal bar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AI-CRV Engine: distinct gold/amber highlight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1143000"/>
            <a:ext cx="2560320" cy="3611880"/>
          </a:xfrm>
          <a:prstGeom prst="rect">
            <a:avLst/>
          </a:prstGeom>
          <a:solidFill>
            <a:srgbClr val="12253A"/>
          </a:solidFill>
          <a:ln w="9525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8" name="Text 26"/>
          <p:cNvSpPr/>
          <p:nvPr/>
        </p:nvSpPr>
        <p:spPr>
          <a:xfrm>
            <a:off x="6327648" y="119786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TYPOGRAPHY  +  FORMAT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 titles: 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Bold, uppercase, 14-16pt
</a:t>
            </a: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Block labels: 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Bold, 12pt
</a:t>
            </a: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Sub-items: 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Regular, 10-11pt
</a:t>
            </a: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Protocol labels: 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Italic / monospace, smaller
</a:t>
            </a: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CTO example: 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Monospace (Courier, Fira Code)
</a:t>
            </a:r>
            <a:r>
              <a:rPr lang="en-US" sz="100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Format
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16:9 widescreen (1920×1080) or A3 landscape
Legible when projected
Export PNG or SVG for embedding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Optional Callout Boxes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the diagram if space permits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301752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 Mode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data injected at Layer 3 output. Bypasses Layers 1-2. Engine behavior identical to production.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743200" cy="3017520"/>
          </a:xfrm>
          <a:prstGeom prst="rect">
            <a:avLst/>
          </a:prstGeom>
          <a:solidFill>
            <a:srgbClr val="12253A"/>
          </a:solidFill>
          <a:ln w="9525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Patent-Pending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93441" y="2057400"/>
            <a:ext cx="25874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AI-CRV: Asymmetric confidence-weighted multi-criteria aggregation with temporal filtering and safety override logic.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43200" cy="3017520"/>
          </a:xfrm>
          <a:prstGeom prst="rect">
            <a:avLst/>
          </a:prstGeom>
          <a:solidFill>
            <a:srgbClr val="12253A"/>
          </a:solidFill>
          <a:ln w="9525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Edge-Ready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Operates fully offline on edge hardware. No cloud dependency for core risk scoring.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six layers — top-to-bottom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L1  PHYSICAL DATA 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1188720"/>
            <a:ext cx="92202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6" name="Text 4"/>
          <p:cNvSpPr/>
          <p:nvPr/>
        </p:nvSpPr>
        <p:spPr>
          <a:xfrm>
            <a:off x="2743200" y="1188720"/>
            <a:ext cx="92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756660" y="1188720"/>
            <a:ext cx="92202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8" name="Text 6"/>
          <p:cNvSpPr/>
          <p:nvPr/>
        </p:nvSpPr>
        <p:spPr>
          <a:xfrm>
            <a:off x="3756660" y="1188720"/>
            <a:ext cx="92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SCADA/DCS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70120" y="1188720"/>
            <a:ext cx="92202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0" name="Text 8"/>
          <p:cNvSpPr/>
          <p:nvPr/>
        </p:nvSpPr>
        <p:spPr>
          <a:xfrm>
            <a:off x="4770120" y="1188720"/>
            <a:ext cx="92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83580" y="1188720"/>
            <a:ext cx="92202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2" name="Text 10"/>
          <p:cNvSpPr/>
          <p:nvPr/>
        </p:nvSpPr>
        <p:spPr>
          <a:xfrm>
            <a:off x="5783580" y="1188720"/>
            <a:ext cx="92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Detectors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97040" y="1188720"/>
            <a:ext cx="92202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4" name="Text 12"/>
          <p:cNvSpPr/>
          <p:nvPr/>
        </p:nvSpPr>
        <p:spPr>
          <a:xfrm>
            <a:off x="6797040" y="1188720"/>
            <a:ext cx="92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Telematics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10500" y="1188720"/>
            <a:ext cx="92202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6" name="Text 14"/>
          <p:cNvSpPr/>
          <p:nvPr/>
        </p:nvSpPr>
        <p:spPr>
          <a:xfrm>
            <a:off x="7810500" y="1188720"/>
            <a:ext cx="92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Ext. Feeds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L2  PROTOCOL ADAPTERS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18288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9" name="Text 17"/>
          <p:cNvSpPr/>
          <p:nvPr/>
        </p:nvSpPr>
        <p:spPr>
          <a:xfrm>
            <a:off x="2743200" y="18288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Modbus/HART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59352" y="18288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1" name="Text 19"/>
          <p:cNvSpPr/>
          <p:nvPr/>
        </p:nvSpPr>
        <p:spPr>
          <a:xfrm>
            <a:off x="3959352" y="18288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OPC-UA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75504" y="18288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3" name="Text 21"/>
          <p:cNvSpPr/>
          <p:nvPr/>
        </p:nvSpPr>
        <p:spPr>
          <a:xfrm>
            <a:off x="5175504" y="18288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RTSP/Video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91656" y="18288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5" name="Text 23"/>
          <p:cNvSpPr/>
          <p:nvPr/>
        </p:nvSpPr>
        <p:spPr>
          <a:xfrm>
            <a:off x="6391656" y="18288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MQTT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07808" y="18288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7" name="Text 25"/>
          <p:cNvSpPr/>
          <p:nvPr/>
        </p:nvSpPr>
        <p:spPr>
          <a:xfrm>
            <a:off x="7607808" y="18288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REST/WS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L3  NORMALIZATION  &amp;  QUALITY CONTROL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2468880"/>
            <a:ext cx="608076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0" name="Text 28"/>
          <p:cNvSpPr/>
          <p:nvPr/>
        </p:nvSpPr>
        <p:spPr>
          <a:xfrm>
            <a:off x="2697480" y="246888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Schema → Units → UTC → Confidence → Anomaly Pre-Filter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  MESSAGE BROKER  (MQTT  /  Apache Kafka)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97480" y="3063240"/>
            <a:ext cx="6080760" cy="457200"/>
          </a:xfrm>
          <a:prstGeom prst="rect">
            <a:avLst/>
          </a:prstGeom>
          <a:solidFill>
            <a:srgbClr val="1A2A3A"/>
          </a:solidFill>
          <a:ln w="9525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3" name="Text 31"/>
          <p:cNvSpPr/>
          <p:nvPr/>
        </p:nvSpPr>
        <p:spPr>
          <a:xfrm>
            <a:off x="2697480" y="306324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Pub/Sub Event Bus  —  full-width decoupling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L5  CONSUMERS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0" y="3657600"/>
            <a:ext cx="1124712" cy="457200"/>
          </a:xfrm>
          <a:prstGeom prst="rect">
            <a:avLst/>
          </a:prstGeom>
          <a:solidFill>
            <a:srgbClr val="1A2A3A"/>
          </a:solidFill>
          <a:ln w="9525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6" name="Text 34"/>
          <p:cNvSpPr/>
          <p:nvPr/>
        </p:nvSpPr>
        <p:spPr>
          <a:xfrm>
            <a:off x="2743200" y="36576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AD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AI-CRV Engine ★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59352" y="36576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8" name="Text 36"/>
          <p:cNvSpPr/>
          <p:nvPr/>
        </p:nvSpPr>
        <p:spPr>
          <a:xfrm>
            <a:off x="3959352" y="36576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×6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75504" y="36576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40" name="Text 38"/>
          <p:cNvSpPr/>
          <p:nvPr/>
        </p:nvSpPr>
        <p:spPr>
          <a:xfrm>
            <a:off x="5175504" y="36576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91656" y="36576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42" name="Text 40"/>
          <p:cNvSpPr/>
          <p:nvPr/>
        </p:nvSpPr>
        <p:spPr>
          <a:xfrm>
            <a:off x="6391656" y="36576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Audit/Historian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607808" y="3657600"/>
            <a:ext cx="1124712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44" name="Text 42"/>
          <p:cNvSpPr/>
          <p:nvPr/>
        </p:nvSpPr>
        <p:spPr>
          <a:xfrm>
            <a:off x="7607808" y="36576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Adviser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" y="4251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 DASHBOARD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97480" y="4297680"/>
            <a:ext cx="6080760" cy="457200"/>
          </a:xfrm>
          <a:prstGeom prst="rect">
            <a:avLst/>
          </a:prstGeom>
          <a:solidFill>
            <a:srgbClr val="12253A"/>
          </a:solidFill>
          <a:ln w="9525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47" name="Text 45"/>
          <p:cNvSpPr/>
          <p:nvPr/>
        </p:nvSpPr>
        <p:spPr>
          <a:xfrm>
            <a:off x="2697480" y="429768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React Web App  —  Composite Score, Modules, Alerts, Map, Roles</a:t>
            </a:r>
            <a:endParaRPr lang="en-US" sz="11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93776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8B6C7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2473</Words>
  <Application>Microsoft Office PowerPoint</Application>
  <PresentationFormat>On-screen Show (16:9)</PresentationFormat>
  <Paragraphs>262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SiteShield_DataIngestion_Architecture.pptx</Manager>
  <Company>SiteShield.ai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SiteShield_DataIngestion_Architecture.pptx</dc:title>
  <dc:subject>SiteShield_DataIngestion_Architecture.pptx</dc:subject>
  <dc:creator>SiteShield.ai</dc:creator>
  <cp:lastModifiedBy>Mohamed Ali Hassan</cp:lastModifiedBy>
  <cp:revision>3</cp:revision>
  <dcterms:created xsi:type="dcterms:W3CDTF">2026-05-09T11:18:40Z</dcterms:created>
  <dcterms:modified xsi:type="dcterms:W3CDTF">2026-05-10T16:16:28Z</dcterms:modified>
</cp:coreProperties>
</file>